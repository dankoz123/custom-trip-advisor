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End-to-End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0972800" cy="2743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From user input to verified day-by-day itinerary  ·  Top-down, single direction of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4572000" cy="256032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PROCESS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078992"/>
            <a:ext cx="3977639" cy="256032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100" b="1">
                <a:solidFill>
                  <a:srgbClr val="0F172A"/>
                </a:solidFill>
              </a:rPr>
              <a:t>TOOLS &amp;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07592"/>
            <a:ext cx="1371600" cy="365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1307592"/>
            <a:ext cx="1371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1417320"/>
            <a:ext cx="11292840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0120" y="1920240"/>
            <a:ext cx="0" cy="4169664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08660" y="1600200"/>
            <a:ext cx="502920" cy="502920"/>
          </a:xfrm>
          <a:prstGeom prst="ellipse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559052"/>
            <a:ext cx="77724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USER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833372"/>
            <a:ext cx="77724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City, Country  •  Start / end dates  •  Days × hours per day</a:t>
            </a:r>
          </a:p>
        </p:txBody>
      </p:sp>
      <p:sp>
        <p:nvSpPr>
          <p:cNvPr id="13" name="Oval 12"/>
          <p:cNvSpPr/>
          <p:nvPr/>
        </p:nvSpPr>
        <p:spPr>
          <a:xfrm>
            <a:off x="708660" y="2295144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253996"/>
            <a:ext cx="77724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CITY POLYGON FETCH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28316"/>
            <a:ext cx="77724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Administrative boundary → city centre → bounding box; every later coord is point-in-polygon tested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5832" y="2400300"/>
            <a:ext cx="86410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1E40AF"/>
                </a:solidFill>
              </a:rPr>
              <a:t>Nominatim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041380" y="2400300"/>
            <a:ext cx="708660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1E40AF"/>
                </a:solidFill>
              </a:rPr>
              <a:t>Shapely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" y="2990088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48940"/>
            <a:ext cx="77724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LLM SEED — CANDIDATE ATTRACTIONS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223260"/>
            <a:ext cx="77724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Claude Sonnet 4.6 (temperature = 0)  ·  count = days × hours/day  ·  returns names, local names with diacritics, approximate coords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75036" y="3095244"/>
            <a:ext cx="1175004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1E40AF"/>
                </a:solidFill>
              </a:rPr>
              <a:t>Anthropic API</a:t>
            </a:r>
          </a:p>
        </p:txBody>
      </p:sp>
      <p:sp>
        <p:nvSpPr>
          <p:cNvPr id="22" name="Oval 21"/>
          <p:cNvSpPr/>
          <p:nvPr/>
        </p:nvSpPr>
        <p:spPr>
          <a:xfrm>
            <a:off x="708660" y="3685032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43884"/>
            <a:ext cx="77724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MULTI-SOURCE GROUNDING  (4 workers in parallel)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918204"/>
            <a:ext cx="77724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Wikidata P625 + P856  ·  Nominatim free-text + structured tag  ·  Overpass name-pattern (Jaccard ≥ 0.40)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0284" y="379018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1E40AF"/>
                </a:solidFill>
              </a:rPr>
              <a:t>Wikidata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08108" y="3790188"/>
            <a:ext cx="86410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1E40AF"/>
                </a:solidFill>
              </a:rPr>
              <a:t>Nominatim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63656" y="379018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1E40AF"/>
                </a:solidFill>
              </a:rPr>
              <a:t>Overpass</a:t>
            </a:r>
          </a:p>
        </p:txBody>
      </p:sp>
      <p:sp>
        <p:nvSpPr>
          <p:cNvPr id="28" name="Oval 27"/>
          <p:cNvSpPr/>
          <p:nvPr/>
        </p:nvSpPr>
        <p:spPr>
          <a:xfrm>
            <a:off x="708660" y="4379976"/>
            <a:ext cx="502920" cy="5029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338828"/>
            <a:ext cx="77724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RECONCILE  →  FILTER  →  DEDUP  →  REFILL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613148"/>
            <a:ext cx="77724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2+ sources agree ≤150 m → HIGH  ·  drop llm-estimate + low confidence  ·  merge near-duplicates  ·  refill loop (≤ 3 rounds)</a:t>
            </a:r>
          </a:p>
        </p:txBody>
      </p:sp>
      <p:sp>
        <p:nvSpPr>
          <p:cNvPr id="31" name="Oval 30"/>
          <p:cNvSpPr/>
          <p:nvPr/>
        </p:nvSpPr>
        <p:spPr>
          <a:xfrm>
            <a:off x="708660" y="5074920"/>
            <a:ext cx="502920" cy="50292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033772"/>
            <a:ext cx="77724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CREWAI BUILDER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308092"/>
            <a:ext cx="77724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Optimizer clusters + orders verified attractions  ·  Planner emits structured JSON  ·  no fabrication, shorter days 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52660" y="5180076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1E40AF"/>
                </a:solidFill>
              </a:rPr>
              <a:t>CrewAI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75036" y="5180076"/>
            <a:ext cx="1175004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1E40AF"/>
                </a:solidFill>
              </a:rPr>
              <a:t>Claude Sonnet</a:t>
            </a:r>
          </a:p>
        </p:txBody>
      </p:sp>
      <p:sp>
        <p:nvSpPr>
          <p:cNvPr id="36" name="Oval 35"/>
          <p:cNvSpPr/>
          <p:nvPr/>
        </p:nvSpPr>
        <p:spPr>
          <a:xfrm>
            <a:off x="708660" y="5769864"/>
            <a:ext cx="502920" cy="502920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5728716"/>
            <a:ext cx="7772400" cy="32004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6003036"/>
            <a:ext cx="7772400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</a:rPr>
              <a:t>Itinerary JSON  ·  Folium interactive map with real road routes  ·  optional email / SMS delivery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29800" y="58750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1E40AF"/>
                </a:solidFill>
              </a:rPr>
              <a:t>Folium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52176" y="587502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1E40AF"/>
                </a:solidFill>
              </a:rPr>
              <a:t>OSRM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119104" y="58750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20000" bIns="20000"/>
          <a:lstStyle/>
          <a:p>
            <a:pPr algn="ctr"/>
            <a:r>
              <a:rPr sz="1000" b="1">
                <a:solidFill>
                  <a:srgbClr val="1E40AF"/>
                </a:solidFill>
              </a:rPr>
              <a:t>Resend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6373368"/>
            <a:ext cx="1129284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57200" y="6473952"/>
            <a:ext cx="164592" cy="164592"/>
          </a:xfrm>
          <a:prstGeom prst="ellipse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6446520"/>
            <a:ext cx="1280160" cy="2286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Input</a:t>
            </a:r>
          </a:p>
        </p:txBody>
      </p:sp>
      <p:sp>
        <p:nvSpPr>
          <p:cNvPr id="45" name="Oval 44"/>
          <p:cNvSpPr/>
          <p:nvPr/>
        </p:nvSpPr>
        <p:spPr>
          <a:xfrm>
            <a:off x="1920240" y="6473952"/>
            <a:ext cx="164592" cy="16459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48840" y="6446520"/>
            <a:ext cx="1280160" cy="2286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Grounding</a:t>
            </a:r>
          </a:p>
        </p:txBody>
      </p:sp>
      <p:sp>
        <p:nvSpPr>
          <p:cNvPr id="47" name="Oval 46"/>
          <p:cNvSpPr/>
          <p:nvPr/>
        </p:nvSpPr>
        <p:spPr>
          <a:xfrm>
            <a:off x="3383280" y="6473952"/>
            <a:ext cx="164592" cy="16459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1880" y="6446520"/>
            <a:ext cx="1280160" cy="2286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Builder</a:t>
            </a:r>
          </a:p>
        </p:txBody>
      </p:sp>
      <p:sp>
        <p:nvSpPr>
          <p:cNvPr id="49" name="Oval 48"/>
          <p:cNvSpPr/>
          <p:nvPr/>
        </p:nvSpPr>
        <p:spPr>
          <a:xfrm>
            <a:off x="4846320" y="6473952"/>
            <a:ext cx="164592" cy="164592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4920" y="6446520"/>
            <a:ext cx="1280160" cy="2286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6446520"/>
            <a:ext cx="5349240" cy="2286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</a:rPr>
              <a:t>Hallucinations dropped • coords cross-validated • verified only into the builder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